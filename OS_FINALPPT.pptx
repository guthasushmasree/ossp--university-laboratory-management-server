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presenting our Operating Systems project, the University Laboratory Management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is a lab resource server written in C. Students request resources, and the server gives them safely using threads, mutexes and semaphores.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lab many students ask for resources together but the resources are limited. Without control, two students may be given the same resource. So we need one central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problem statement given to us. The main points are concurrency and controlling limited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nine objectives. Each objective is connected to one OS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complete flow. Student, server, request queue, worker thread, mutex and semaphore, resource allocation, automatic release and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six main OS concepts. Sockets for communication, threads for concurrency, mutex to avoid race conditions, semaphores for limited resources, signals for administration and file I/O for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5 threads: one main thread, three worker threads and one timer thread. We used the pthread library. Because of three workers, three requests can be processed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six types of resources. Each type has one counting semaphore. sem_wait takes a resource and sem_post gives it back. If no resource is free, the student has to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admin sends signals to the server. SIGUSR1 shows pending requests, SIGUSR2 shows resource status, and Ctrl+C does a safe shutdown. Everything is saved in server.log.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added a frontend that runs in Ubuntu. We did not create a second server. The same lab_server.c serves the website, so every request from the website goes through the queue, worker threads, mutex and semaphores.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software requirements. The whole project runs on Ubuntu and is compiled with GCC.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our server handles many students together and shares limited resources safely. In future we can add login, a database and priority for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7863840" cy="6858000"/>
          </a:xfrm>
          <a:prstGeom prst="rtTriangle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64008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58600" y="539496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635508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0" y="603504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2103120" cy="9981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4173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KONERU LAKSHMAIAH EDUCATION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Operating Systems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58521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Cambria"/>
              </a:rPr>
              <a:t>University Laboratory Management Server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06908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 Number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A V S N R Akhila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2520030022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G. Sushma Sree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2520030098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Manasvi Nilesh Ghag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2520030335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715000"/>
            <a:ext cx="5120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Under the Guidance of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K. 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600200"/>
            <a:ext cx="493776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03720" y="178308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41464" y="17830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9208" y="178308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164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3C5FD"/>
                </a:solidFill>
                <a:latin typeface="Consolas"/>
              </a:rPr>
              <a:t>lab_server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194560"/>
            <a:ext cx="438912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Consolas"/>
              </a:rPr>
              <a:t>$ </a:t>
            </a:r>
            <a:r>
              <a:rPr sz="1300" b="0">
                <a:solidFill>
                  <a:srgbClr val="FFFFFF"/>
                </a:solidFill>
                <a:latin typeface="Consolas"/>
              </a:rPr>
              <a:t>./lab_server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[SERVER] </a:t>
            </a:r>
            <a:r>
              <a:rPr sz="1300" b="0">
                <a:solidFill>
                  <a:srgbClr val="FFFFFF"/>
                </a:solidFill>
                <a:latin typeface="Consolas"/>
              </a:rPr>
              <a:t>Listening on port 8080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[SERVER] </a:t>
            </a:r>
            <a:r>
              <a:rPr sz="1300" b="0">
                <a:solidFill>
                  <a:srgbClr val="FFFFFF"/>
                </a:solidFill>
                <a:latin typeface="Consolas"/>
              </a:rPr>
              <a:t>Request received from Student 101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[WORKER 1] </a:t>
            </a:r>
            <a:r>
              <a:rPr sz="1300" b="0">
                <a:solidFill>
                  <a:srgbClr val="FFFFFF"/>
                </a:solidFill>
                <a:latin typeface="Consolas"/>
              </a:rPr>
              <a:t>Processing request...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[RESOURCE] </a:t>
            </a:r>
            <a:r>
              <a:rPr sz="1300" b="0">
                <a:solidFill>
                  <a:srgbClr val="FFFFFF"/>
                </a:solidFill>
                <a:latin typeface="Consolas"/>
              </a:rPr>
              <a:t>Student 101 acquired Computer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1645920"/>
            <a:ext cx="8988552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1828800"/>
            <a:ext cx="8165592" cy="3566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The University Laboratory Management Server is a server program written in C on Linux (Ubuntu). It manages the limited resources of a computer laboratory such as computers, printers, file servers, projectors, scanners and headsets. Many students can send requests at the same time. The server keeps the requests in a shared queue and worker threads process them. Mutexes protect the shared data and semaphores control the limited resources. The server also keeps activity logs, supports signals for administration and has a simple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1645920"/>
            <a:ext cx="8988552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20240" y="2084831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A university lab has many systems and many students use it at the same time</a:t>
            </a:r>
          </a:p>
        </p:txBody>
      </p:sp>
      <p:sp>
        <p:nvSpPr>
          <p:cNvPr id="23" name="Oval 22"/>
          <p:cNvSpPr/>
          <p:nvPr/>
        </p:nvSpPr>
        <p:spPr>
          <a:xfrm>
            <a:off x="1920240" y="2779776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660904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Students request resources like computers, printers and scanners</a:t>
            </a:r>
          </a:p>
        </p:txBody>
      </p:sp>
      <p:sp>
        <p:nvSpPr>
          <p:cNvPr id="25" name="Oval 24"/>
          <p:cNvSpPr/>
          <p:nvPr/>
        </p:nvSpPr>
        <p:spPr>
          <a:xfrm>
            <a:off x="1920240" y="347472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355848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These resources are limited</a:t>
            </a:r>
          </a:p>
        </p:txBody>
      </p:sp>
      <p:sp>
        <p:nvSpPr>
          <p:cNvPr id="27" name="Oval 26"/>
          <p:cNvSpPr/>
          <p:nvPr/>
        </p:nvSpPr>
        <p:spPr>
          <a:xfrm>
            <a:off x="1920240" y="4169663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050791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If two students get the same resource at the same time, data becomes wrong</a:t>
            </a:r>
          </a:p>
        </p:txBody>
      </p:sp>
      <p:sp>
        <p:nvSpPr>
          <p:cNvPr id="29" name="Oval 28"/>
          <p:cNvSpPr/>
          <p:nvPr/>
        </p:nvSpPr>
        <p:spPr>
          <a:xfrm>
            <a:off x="1920240" y="4864607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745736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So a centralized server is needed to manage all requests properly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PROBLEM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1645920"/>
            <a:ext cx="8988552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20240" y="2084831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The laboratory needs a centralized management system</a:t>
            </a:r>
          </a:p>
        </p:txBody>
      </p:sp>
      <p:sp>
        <p:nvSpPr>
          <p:cNvPr id="23" name="Oval 22"/>
          <p:cNvSpPr/>
          <p:nvPr/>
        </p:nvSpPr>
        <p:spPr>
          <a:xfrm>
            <a:off x="1920240" y="2779776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660904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It should handle multiple student requests concurrently</a:t>
            </a:r>
          </a:p>
        </p:txBody>
      </p:sp>
      <p:sp>
        <p:nvSpPr>
          <p:cNvPr id="25" name="Oval 24"/>
          <p:cNvSpPr/>
          <p:nvPr/>
        </p:nvSpPr>
        <p:spPr>
          <a:xfrm>
            <a:off x="1920240" y="347472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355848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It should control access to limited laboratory resources</a:t>
            </a:r>
          </a:p>
        </p:txBody>
      </p:sp>
      <p:sp>
        <p:nvSpPr>
          <p:cNvPr id="27" name="Oval 26"/>
          <p:cNvSpPr/>
          <p:nvPr/>
        </p:nvSpPr>
        <p:spPr>
          <a:xfrm>
            <a:off x="1920240" y="4169663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050791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It should maintain request and allocation information</a:t>
            </a:r>
          </a:p>
        </p:txBody>
      </p:sp>
      <p:sp>
        <p:nvSpPr>
          <p:cNvPr id="29" name="Oval 28"/>
          <p:cNvSpPr/>
          <p:nvPr/>
        </p:nvSpPr>
        <p:spPr>
          <a:xfrm>
            <a:off x="1920240" y="4864607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745736"/>
            <a:ext cx="822960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Calibri"/>
              </a:rPr>
              <a:t>It should support administration, monitoring and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1600200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71600" y="20116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0116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1691640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accept multiple client requests simultaneously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1600200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18304" y="20116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20116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1691640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use worker threads to process student requests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8" y="1600200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65008" y="20116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20116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1691640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maintain a shared request queue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306323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34747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3474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315467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use mutexes to protect shared data structures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35424" y="306323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18304" y="34747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4" y="3474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2664" y="315467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use semaphores to control limited resources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82128" y="306323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65008" y="34747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8" y="3474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9368" y="315467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maintain student requests and resource allocation information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8720" y="452627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71600" y="493775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4937759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5960" y="461771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use signals for server administration and controlled shutdown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35424" y="452627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18304" y="493775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4" y="4937759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12664" y="461771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monitor threads and resource usage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82128" y="4526279"/>
            <a:ext cx="3118104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65008" y="493775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4937759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9368" y="4617719"/>
            <a:ext cx="2203704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To maintain server activity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WORKING OF THE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160020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71600" y="1783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7830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178308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37744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Student sends a request from the client / web page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6919" y="160020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79799" y="1783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79799" y="17830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439" y="178308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4079" y="237744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Server receives the request through a socket (port 8080)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5118" y="160020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87998" y="1783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7998" y="17830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6638" y="178308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2278" y="237744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Request is added to the shared request queue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13317" y="160020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96197" y="1783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6197" y="17830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4837" y="178308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0477" y="237744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 worker thread takes the request from the queue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379476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71600" y="3977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97764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57200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Mutex locks the shared data, semaphore checks if resource is free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96919" y="379476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879799" y="3977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79799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8439" y="397764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4079" y="457200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Resource is allocated to the student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05118" y="379476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87998" y="3977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7998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6638" y="397764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2278" y="457200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Timer thread releases the resource after the given time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13317" y="379476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896197" y="3977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96197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44837" y="397764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Step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0477" y="4572000"/>
            <a:ext cx="201168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Every activity is written in server.log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OS CONCEPTS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27048" y="1783080"/>
          <a:ext cx="91440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</a:tblGrid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Where it is used in our project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TCP Sockets (IPC)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Communication between client and server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POSIX Threads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Worker threads and timer thread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Mutex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Protects request queue and allocation table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Counting Semaphore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Controls limited laboratory resources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Server status and controlled shutdown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File I/O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Activity log in server.log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THREADS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1554480"/>
            <a:ext cx="2560320" cy="4114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1554480"/>
            <a:ext cx="25603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Total threads: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2194560"/>
            <a:ext cx="3118104" cy="2514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286000"/>
            <a:ext cx="3118104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154680"/>
            <a:ext cx="28437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Main thread 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611880"/>
            <a:ext cx="266090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Accepts client connections and adds requests to the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5424" y="2194560"/>
            <a:ext cx="3118104" cy="2514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286000"/>
            <a:ext cx="3118104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4" y="3154680"/>
            <a:ext cx="28437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Worker threads 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3611880"/>
            <a:ext cx="266090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Take requests from the queue and process them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8" y="2194560"/>
            <a:ext cx="3118104" cy="2514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8" y="2286000"/>
            <a:ext cx="3118104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Cambria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3154680"/>
            <a:ext cx="28437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Timer thread 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3611880"/>
            <a:ext cx="266090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Checks the usage time and releases the resource automatically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4937760"/>
            <a:ext cx="9811512" cy="7315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937760"/>
            <a:ext cx="98115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Library used: </a:t>
            </a:r>
            <a:r>
              <a:rPr sz="1700" b="0">
                <a:solidFill>
                  <a:srgbClr val="0F172A"/>
                </a:solidFill>
                <a:latin typeface="Calibri"/>
              </a:rPr>
              <a:t>POSIX Threads (pthread_create, pthread_join)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RESOURCES AND SEMAPHORES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1481328"/>
            <a:ext cx="9811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75569"/>
                </a:solidFill>
                <a:latin typeface="Calibri"/>
              </a:rPr>
              <a:t>Resource</a:t>
            </a:r>
            <a:r>
              <a:rPr sz="1400" b="0">
                <a:solidFill>
                  <a:srgbClr val="475569"/>
                </a:solidFill>
                <a:latin typeface="Calibri"/>
              </a:rPr>
              <a:t>  –  Total 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Computers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9212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9212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9212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Printers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9704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File Servers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0196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0196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0196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Projectors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Scanners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41180" y="1874519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1180" y="1938528"/>
            <a:ext cx="15544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Cambr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1180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Headsets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3703320"/>
            <a:ext cx="9811512" cy="19659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54480" y="4023359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3904487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One counting semaphore is used for each resource type</a:t>
            </a:r>
          </a:p>
        </p:txBody>
      </p:sp>
      <p:sp>
        <p:nvSpPr>
          <p:cNvPr id="42" name="Oval 41"/>
          <p:cNvSpPr/>
          <p:nvPr/>
        </p:nvSpPr>
        <p:spPr>
          <a:xfrm>
            <a:off x="1554480" y="4571999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0" y="4453127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sem_wait() acquires a resource and sem_post() releases it</a:t>
            </a:r>
          </a:p>
        </p:txBody>
      </p:sp>
      <p:sp>
        <p:nvSpPr>
          <p:cNvPr id="44" name="Oval 43"/>
          <p:cNvSpPr/>
          <p:nvPr/>
        </p:nvSpPr>
        <p:spPr>
          <a:xfrm>
            <a:off x="1554480" y="512064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5001768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If no resource is free, the student has to wait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SIGNALS AND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1645920"/>
            <a:ext cx="4791456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1828800"/>
            <a:ext cx="4242816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Signals are used by the administrator to control the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2788920"/>
            <a:ext cx="4151376" cy="18288"/>
          </a:xfrm>
          <a:prstGeom prst="rect">
            <a:avLst/>
          </a:prstGeom>
          <a:solidFill>
            <a:srgbClr val="D5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54480" y="318211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063240"/>
            <a:ext cx="3840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SIGUSR1 – shows pending requests</a:t>
            </a:r>
          </a:p>
        </p:txBody>
      </p:sp>
      <p:sp>
        <p:nvSpPr>
          <p:cNvPr id="25" name="Oval 24"/>
          <p:cNvSpPr/>
          <p:nvPr/>
        </p:nvSpPr>
        <p:spPr>
          <a:xfrm>
            <a:off x="1554480" y="395935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840480"/>
            <a:ext cx="3840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SIGUSR2 – shows resource status</a:t>
            </a:r>
          </a:p>
        </p:txBody>
      </p:sp>
      <p:sp>
        <p:nvSpPr>
          <p:cNvPr id="27" name="Oval 26"/>
          <p:cNvSpPr/>
          <p:nvPr/>
        </p:nvSpPr>
        <p:spPr>
          <a:xfrm>
            <a:off x="1554480" y="473659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617720"/>
            <a:ext cx="3840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SIGINT / SIGTERM – controlled shutdown of the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645920"/>
            <a:ext cx="4791456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1828800"/>
            <a:ext cx="4242816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All activities are stored in server.log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2788920"/>
            <a:ext cx="4151376" cy="18288"/>
          </a:xfrm>
          <a:prstGeom prst="rect">
            <a:avLst/>
          </a:prstGeom>
          <a:solidFill>
            <a:srgbClr val="D5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74536" y="318211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8856" y="3063240"/>
            <a:ext cx="3840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Requests, allocations and releases</a:t>
            </a:r>
          </a:p>
        </p:txBody>
      </p:sp>
      <p:sp>
        <p:nvSpPr>
          <p:cNvPr id="34" name="Oval 33"/>
          <p:cNvSpPr/>
          <p:nvPr/>
        </p:nvSpPr>
        <p:spPr>
          <a:xfrm>
            <a:off x="6574536" y="395935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8856" y="3840480"/>
            <a:ext cx="3840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Date and time of each activity (IST)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FRONTEND (WEB DASHBOARD)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1600200"/>
            <a:ext cx="9811512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54480" y="188366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1764792"/>
            <a:ext cx="88696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Made using HTML, CSS and JavaScript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1554480" y="238658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2267712"/>
            <a:ext cx="88696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Served by the same C server at http://localhost:8080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063240"/>
            <a:ext cx="98115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Pages in the website: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61188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379476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023360"/>
            <a:ext cx="20116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09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shows available resources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96919" y="361188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79799" y="379476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34079" y="4023360"/>
            <a:ext cx="20116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Request Resource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4079" y="4709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student ID, resource and usage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5118" y="361188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87998" y="379476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2278" y="4023360"/>
            <a:ext cx="20116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Student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2278" y="4709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resource used by a student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13317" y="3611880"/>
            <a:ext cx="2286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96197" y="379476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0477" y="4023360"/>
            <a:ext cx="20116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Allocated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0477" y="4709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all current allocations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SOFTWARE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27048" y="1783080"/>
          <a:ext cx="91440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</a:tblGrid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anchor="ctr" marL="137160">
                    <a:solidFill>
                      <a:srgbClr val="2563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Ubuntu (Linux)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Compiler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GCC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Libraries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pthread, semaphore, socket, signal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HTML, CSS, JavaScript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lab_server.c, lab_client.c, server.log</a:t>
                      </a:r>
                    </a:p>
                  </a:txBody>
                  <a:tcPr anchor="ctr" marL="13716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65992" cy="6126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10312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45720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617220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548640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371600" cy="6509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8880" y="548640"/>
            <a:ext cx="725119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mbria"/>
              </a:rPr>
              <a:t>CONCLUSION AND FUTURE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566928"/>
            <a:ext cx="960120" cy="63367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18089" y="642969"/>
            <a:ext cx="806500" cy="430901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4899" y="719011"/>
            <a:ext cx="480060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4899" y="826736"/>
            <a:ext cx="672084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4899" y="934461"/>
            <a:ext cx="384048" cy="443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3732" y="1200607"/>
            <a:ext cx="115214" cy="12673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1309" y="1327343"/>
            <a:ext cx="480060" cy="6336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61264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1645920"/>
            <a:ext cx="4791456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1783080"/>
            <a:ext cx="424281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63EB"/>
                </a:solidFill>
                <a:latin typeface="Cambria"/>
              </a:rPr>
              <a:t>Conclusion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2395728"/>
            <a:ext cx="4151376" cy="18288"/>
          </a:xfrm>
          <a:prstGeom prst="rect">
            <a:avLst/>
          </a:prstGeom>
          <a:solidFill>
            <a:srgbClr val="D5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54480" y="272491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260604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The server handles many student requests at the same time</a:t>
            </a:r>
          </a:p>
        </p:txBody>
      </p:sp>
      <p:sp>
        <p:nvSpPr>
          <p:cNvPr id="25" name="Oval 24"/>
          <p:cNvSpPr/>
          <p:nvPr/>
        </p:nvSpPr>
        <p:spPr>
          <a:xfrm>
            <a:off x="1554480" y="345643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33756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Threads, mutexes and semaphores make resource sharing safe</a:t>
            </a:r>
          </a:p>
        </p:txBody>
      </p:sp>
      <p:sp>
        <p:nvSpPr>
          <p:cNvPr id="27" name="Oval 26"/>
          <p:cNvSpPr/>
          <p:nvPr/>
        </p:nvSpPr>
        <p:spPr>
          <a:xfrm>
            <a:off x="1554480" y="418795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06908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Resources are released automatically after the usage time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49194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480060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Signals, logs and dashboard help to monitor the 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645920"/>
            <a:ext cx="4791456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1783080"/>
            <a:ext cx="424281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63EB"/>
                </a:solidFill>
                <a:latin typeface="Cambria"/>
              </a:rPr>
              <a:t>Future 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8816" y="2395728"/>
            <a:ext cx="4151376" cy="18288"/>
          </a:xfrm>
          <a:prstGeom prst="rect">
            <a:avLst/>
          </a:prstGeom>
          <a:solidFill>
            <a:srgbClr val="D5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74536" y="272491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8856" y="260604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Student login with password</a:t>
            </a:r>
          </a:p>
        </p:txBody>
      </p:sp>
      <p:sp>
        <p:nvSpPr>
          <p:cNvPr id="36" name="Oval 35"/>
          <p:cNvSpPr/>
          <p:nvPr/>
        </p:nvSpPr>
        <p:spPr>
          <a:xfrm>
            <a:off x="6574536" y="345643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8856" y="333756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Storing the data in a database</a:t>
            </a:r>
          </a:p>
        </p:txBody>
      </p:sp>
      <p:sp>
        <p:nvSpPr>
          <p:cNvPr id="38" name="Oval 37"/>
          <p:cNvSpPr/>
          <p:nvPr/>
        </p:nvSpPr>
        <p:spPr>
          <a:xfrm>
            <a:off x="6574536" y="418795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48856" y="406908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Priority for urgent requests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7863840" cy="6858000"/>
          </a:xfrm>
          <a:prstGeom prst="rtTriangle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64008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58600" y="539496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635508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0" y="6035040"/>
            <a:ext cx="164592" cy="1645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2103120" cy="9981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468880"/>
            <a:ext cx="58521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0F172A"/>
                </a:solidFill>
                <a:latin typeface="Cambria"/>
              </a:rPr>
              <a:t>THANK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703320"/>
            <a:ext cx="128016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192024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03720" y="210312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41464" y="21031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79208" y="210312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3C5FD"/>
                </a:solidFill>
                <a:latin typeface="Consolas"/>
              </a:rPr>
              <a:t>lab_server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4389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Consolas"/>
              </a:rPr>
              <a:t>$ </a:t>
            </a:r>
            <a:r>
              <a:rPr sz="1300" b="0">
                <a:solidFill>
                  <a:srgbClr val="FFFFFF"/>
                </a:solidFill>
                <a:latin typeface="Consolas"/>
              </a:rPr>
              <a:t>kill -SIGINT lab_server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[SERVER] </a:t>
            </a:r>
            <a:r>
              <a:rPr sz="1300" b="0">
                <a:solidFill>
                  <a:srgbClr val="FFFFFF"/>
                </a:solidFill>
                <a:latin typeface="Consolas"/>
              </a:rPr>
              <a:t>Releasing all resources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93C5FD"/>
                </a:solidFill>
                <a:latin typeface="Consolas"/>
              </a:rPr>
              <a:t>[SERVER] </a:t>
            </a:r>
            <a:r>
              <a:rPr sz="1300" b="0">
                <a:solidFill>
                  <a:srgbClr val="FFFFFF"/>
                </a:solidFill>
                <a:latin typeface="Consolas"/>
              </a:rPr>
              <a:t>Shutting down safely...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